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34"/>
                </a:solidFill>
                <a:latin typeface="Arial"/>
              </a:rPr>
              <a:t>Cross-validated RMSE (ppb)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Poly+Int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20.58</c:v>
                </c:pt>
                <c:pt idx="1">
                  <c:v>18.58</c:v>
                </c:pt>
                <c:pt idx="2">
                  <c:v>16.63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Analysis using R  |  GOWTHAMRAJ P  |  23CAP317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&lt;your-username&gt;/air-quality-analysis-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Analysis using 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ground-level ozone from weather conditions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GOWTHAMRAJ 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 |  II Year / III Sem / Sec 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23CAP317 – R Programming  |  Mini Project 2025-2026</a:t>
            </a:r>
            <a:endParaRPr lang="en-US" sz="1400" dirty="0"/>
          </a:p>
        </p:txBody>
      </p:sp>
      <p:sp>
        <p:nvSpPr>
          <p:cNvPr id="5" name="motif-1"/>
          <p:cNvSpPr/>
          <p:nvPr/>
        </p:nvSpPr>
        <p:spPr>
          <a:xfrm>
            <a:off x="6583680" y="822960"/>
            <a:ext cx="2194560" cy="2194560"/>
          </a:xfrm>
          <a:prstGeom prst="ellipse">
            <a:avLst/>
          </a:prstGeom>
          <a:solidFill>
            <a:srgbClr val="2A9D8F">
              <a:alpha val="75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motif-2"/>
          <p:cNvSpPr/>
          <p:nvPr/>
        </p:nvSpPr>
        <p:spPr>
          <a:xfrm>
            <a:off x="7223760" y="2286000"/>
            <a:ext cx="1463040" cy="1463040"/>
          </a:xfrm>
          <a:prstGeom prst="ellipse">
            <a:avLst/>
          </a:prstGeom>
          <a:solidFill>
            <a:srgbClr val="F2A541">
              <a:alpha val="80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8229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O₃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</a:rPr>
              <a:t>Karpagam College of Engineering (Autonomous)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E8"/>
                </a:solidFill>
              </a:rPr>
              <a:t>School of Computer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Ground-level ozone forms when sunlight, heat and pollutants react; it harms lungs and is hard to anticipate by eye.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depends on several interacting weather factors: solar radiation, wind speed and temperature.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build predictive models that estimate the ozone level (ppb) of a day from its weather, and flag high-ozone days.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early warnings and health advisories for sensitive groups.</a:t>
            </a:r>
            <a:endParaRPr lang="en-US" sz="1600" dirty="0"/>
          </a:p>
        </p:txBody>
      </p:sp>
      <p:sp>
        <p:nvSpPr>
          <p:cNvPr id="4" name="stat-card"/>
          <p:cNvSpPr/>
          <p:nvPr/>
        </p:nvSpPr>
        <p:spPr>
          <a:xfrm>
            <a:off x="5577840" y="1188720"/>
            <a:ext cx="150876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0" y="1298448"/>
            <a:ext cx="1508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86766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daily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(May–Sep 1973)</a:t>
            </a:r>
            <a:endParaRPr lang="en-US" sz="1200" dirty="0"/>
          </a:p>
        </p:txBody>
      </p:sp>
      <p:sp>
        <p:nvSpPr>
          <p:cNvPr id="7" name="stat-card"/>
          <p:cNvSpPr/>
          <p:nvPr/>
        </p:nvSpPr>
        <p:spPr>
          <a:xfrm>
            <a:off x="7178040" y="1188720"/>
            <a:ext cx="150876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78040" y="1298448"/>
            <a:ext cx="1508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86766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measured variables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+ Month, Day</a:t>
            </a:r>
            <a:endParaRPr lang="en-US" sz="1200" dirty="0"/>
          </a:p>
        </p:txBody>
      </p:sp>
      <p:sp>
        <p:nvSpPr>
          <p:cNvPr id="10" name="stat-card"/>
          <p:cNvSpPr/>
          <p:nvPr/>
        </p:nvSpPr>
        <p:spPr>
          <a:xfrm>
            <a:off x="5577840" y="2606040"/>
            <a:ext cx="150876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2715768"/>
            <a:ext cx="1508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28498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model families: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linear, forest, logistic</a:t>
            </a:r>
            <a:endParaRPr lang="en-US" sz="1200" dirty="0"/>
          </a:p>
        </p:txBody>
      </p:sp>
      <p:sp>
        <p:nvSpPr>
          <p:cNvPr id="13" name="stat-card"/>
          <p:cNvSpPr/>
          <p:nvPr/>
        </p:nvSpPr>
        <p:spPr>
          <a:xfrm>
            <a:off x="7178040" y="2606040"/>
            <a:ext cx="150876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2715768"/>
            <a:ext cx="15087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28498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all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in one script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2800" dirty="0"/>
          </a:p>
        </p:txBody>
      </p:sp>
      <p:sp>
        <p:nvSpPr>
          <p:cNvPr id="3" name="obj-circle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4"/>
                </a:solidFill>
              </a:rPr>
              <a:t>Load, inspect and clean the New York air quality dataset</a:t>
            </a:r>
            <a:endParaRPr lang="en-US" sz="1600" dirty="0"/>
          </a:p>
        </p:txBody>
      </p:sp>
      <p:sp>
        <p:nvSpPr>
          <p:cNvPr id="6" name="obj-circle"/>
          <p:cNvSpPr/>
          <p:nvPr/>
        </p:nvSpPr>
        <p:spPr>
          <a:xfrm>
            <a:off x="548640" y="180136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4"/>
                </a:solidFill>
              </a:rPr>
              <a:t>Explore patterns and relationships using statistics and plots</a:t>
            </a:r>
            <a:endParaRPr lang="en-US" sz="1600" dirty="0"/>
          </a:p>
        </p:txBody>
      </p:sp>
      <p:sp>
        <p:nvSpPr>
          <p:cNvPr id="9" name="obj-circle"/>
          <p:cNvSpPr/>
          <p:nvPr/>
        </p:nvSpPr>
        <p:spPr>
          <a:xfrm>
            <a:off x="548640" y="2505456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4"/>
                </a:solidFill>
              </a:rPr>
              <a:t>Identify statistical problems: missing data, skew, outliers, collinearity</a:t>
            </a:r>
            <a:endParaRPr lang="en-US" sz="1600" dirty="0"/>
          </a:p>
        </p:txBody>
      </p:sp>
      <p:sp>
        <p:nvSpPr>
          <p:cNvPr id="12" name="obj-circle"/>
          <p:cNvSpPr/>
          <p:nvPr/>
        </p:nvSpPr>
        <p:spPr>
          <a:xfrm>
            <a:off x="548640" y="320954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2095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4"/>
                </a:solidFill>
              </a:rPr>
              <a:t>Build regression models for Ozone: linear, log-linear, polynomial, random forest</a:t>
            </a:r>
            <a:endParaRPr lang="en-US" sz="1600" dirty="0"/>
          </a:p>
        </p:txBody>
      </p:sp>
      <p:sp>
        <p:nvSpPr>
          <p:cNvPr id="15" name="obj-circle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136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4"/>
                </a:solidFill>
              </a:rPr>
              <a:t>Classify high-ozone days with logistic regression and predict new days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 in the Project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4937760" cy="2743200"/>
          </a:xfrm>
          <a:prstGeom prst="roundRect">
            <a:avLst>
              <a:gd name="adj" fmla="val 2667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471830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temp_vec  &lt;- c(67, 72, 74, 62, 56)          # vector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month_fct &lt;- factor(c("May","Jun","Jul",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"Aug","Sep"))         # factor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sample_mat &lt;- matrix(c(41,190,7.4,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36,118,8.0),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nrow = 2, byrow = TRUE) #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sample_lst &lt;- list(station = "New York",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year = 1973,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pollutant = "Ozone")     #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&lt;- read.csv("aq.csv")                   # data frame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1887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Vector: one column of readings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Month as a category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numeric block of days × variables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dataset metadata and model outputs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frame: the main table (153 × 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the Dataset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490118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air &lt;- read.csv("aq.csv")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head(air)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Ozone Solar.R Wind Temp Month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1    41     190  7.4   67     5   1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2    36     118  8.0   72     5   2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3    12     149 12.6   74     5   3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4    18     313 11.5   62     5   4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NA      NA 14.3   56     5  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 28      NA 14.9   66     5   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1887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5 and 6 already show NA (missing) values.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is the target; Solar.R, Wind, Temp and Month are predictors.</a:t>
            </a:r>
            <a:endParaRPr lang="en-US" sz="1500" dirty="0"/>
          </a:p>
        </p:txBody>
      </p:sp>
      <p:sp>
        <p:nvSpPr>
          <p:cNvPr id="6" name="stat-card"/>
          <p:cNvSpPr/>
          <p:nvPr/>
        </p:nvSpPr>
        <p:spPr>
          <a:xfrm>
            <a:off x="457200" y="3337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4472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913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missing Ozone values</a:t>
            </a:r>
            <a:endParaRPr lang="en-US" sz="1200" dirty="0"/>
          </a:p>
        </p:txBody>
      </p:sp>
      <p:sp>
        <p:nvSpPr>
          <p:cNvPr id="9" name="stat-card"/>
          <p:cNvSpPr/>
          <p:nvPr/>
        </p:nvSpPr>
        <p:spPr>
          <a:xfrm>
            <a:off x="3017520" y="333756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34472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9913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missing Solar.R values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Dataset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4"/>
                </a:solidFill>
              </a:rPr>
              <a:t>153 rows × 6 columns. Source: New York State Dept. of Conservation (ozone) and the National Weather Service (weather), 1973; loaded from the Rdatasets CSV of R's airquality data.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  <a:gridCol w="1097280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ozone, 1–3 pm (Roosevelt Island)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Solar.R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radiation, 8 am–12 pm (Central Park)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Langley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wind speed, 7–10 am (LaGuardia)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daily temperature (LaGuardia)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month (5–9) and day (1–31)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/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Dataset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709574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str(air)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'data.frame':	153 obs. of  6 variables: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Ozone  : int  41 36 12 18 NA 28 23 19 8 NA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Solar.R: int  190 118 149 313 NA NA 299 99 19 194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Wind   : num  7.4 8 12.6 11.5 14.3 14.9 8.6 13.8 20.1 8.6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Temp   : int  67 72 74 62 56 66 65 59 61 69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Month  : int  5 5 5 5 5 5 5 5 5 5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 Day    : int  1 2 3 4 5 6 7 8 9 10 ...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Ozone, Solar.R, Temp, Month, Day are integers; Wind is numeric (decimal).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predictors are numeric, so no encoding is needed for the models.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the Dataset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5577840" cy="2743200"/>
          </a:xfrm>
          <a:prstGeom prst="roundRect">
            <a:avLst>
              <a:gd name="adj" fmla="val 2667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535838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summary(air)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Ozone           Solar.R           Wind             Temp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Min.   :  1.00   Min.   :  7.0   Min.   : 1.700   Min.   :56.00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1st Qu.: 18.00   1st Qu.:115.8   1st Qu.: 7.400   1st Qu.:72.00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Median : 31.50   Median :205.0   Median : 9.700   Median :79.00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Mean   : 42.13   Mean   :185.9   Mean   : 9.958   Mean   :77.88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3rd Qu.: 63.25   3rd Qu.:258.8   3rd Qu.:11.500   3rd Qu.:85.00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Max.   :168.00   Max.   :334.0   Max.   :20.700   Max.   :97.00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NA's   :37       NA's   :7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Month            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Min.   :5.000   Min.   : 1.0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1st Qu.:6.000   1st Qu.: 8.0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Median :7.000   Median :16.0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Mean   :6.993   Mean   :15.8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3rd Qu.:8.000   3rd Qu.:23.0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Max.   :9.000   Max.   :31.0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263640" y="1188720"/>
            <a:ext cx="2423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Ozone: mean 42.1 but median 31.5, so it is right-skewed (max 168 ppb).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ranges 56–97 °F; Wind 1.7–20.7 mph.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counts: Ozone 37, Solar.R 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Structures and Functions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4846320" cy="2697480"/>
          </a:xfrm>
          <a:prstGeom prst="roundRect">
            <a:avLst>
              <a:gd name="adj" fmla="val 2712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462686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ozone_category &lt;- function(x)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(is.na(x))     "Unknown"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(x &lt;= 30) "Good"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(x &lt;= 60) "Moderate"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(x &lt;= 90) "Unhealthy"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             "Very Unhealthy"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(nm in c("Ozone","Solar.R","Wind","Temp"))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col_means[nm] &lt;- mean(air[[nm]], na.rm=TRUE)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&lt;- 1                      # while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nrow(air) &amp;&amp;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(is.na(air$Ozone[i]) || air$Ozone[i] &lt;= 100))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&lt;- i + 1</a:t>
            </a:r>
            <a:endParaRPr lang="en-US" sz="1000" dirty="0"/>
          </a:p>
        </p:txBody>
      </p:sp>
      <p:sp>
        <p:nvSpPr>
          <p:cNvPr id="5" name="code-box"/>
          <p:cNvSpPr/>
          <p:nvPr/>
        </p:nvSpPr>
        <p:spPr>
          <a:xfrm>
            <a:off x="5486400" y="1097280"/>
            <a:ext cx="3200400" cy="2697480"/>
          </a:xfrm>
          <a:prstGeom prst="roundRect">
            <a:avLst>
              <a:gd name="adj" fmla="val 2712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96128" y="1170432"/>
            <a:ext cx="2980944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Good       Moderate      Unhealthy Very Unhealthy        Unknown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57             28             20             11             37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means (for loop):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Ozone Solar.R    Wind   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42.13  185.93    9.96   77.88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row with Ozone &gt; 100 ppb (while loop): row 30 | Month 5 Day 30 Ozone 115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classifies each day into an ozone band.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computes column means; while loop finds the first day above 100 ppb (30 May, 115 ppb).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days Good, 28 Moderate, 20 Unhealthy, 11 Very Unhealthy; 37 Unknown (NA).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and Data Frames in the Model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462686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describe_var &lt;- function(v)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 &lt;- v[!is.na(v)]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list(n = length(v), mean = mean(v),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sd = sd(v), min = min(v), max = max(v))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stats_list &lt;- lapply(air[, c("Ozone","Solar.R",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"Wind","Temp")], describe_var)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&lt;- air %&gt;% group_by(Month) %&gt;%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summarise(days = 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mean_ozone = mean(Ozone, na.rm = 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mean_temp = mean(Temp),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mean_wind = mean(Wind))</a:t>
            </a:r>
            <a:endParaRPr lang="en-US" sz="1000" dirty="0"/>
          </a:p>
        </p:txBody>
      </p:sp>
      <p:sp>
        <p:nvSpPr>
          <p:cNvPr id="5" name="code-box"/>
          <p:cNvSpPr/>
          <p:nvPr/>
        </p:nvSpPr>
        <p:spPr>
          <a:xfrm>
            <a:off x="457200" y="347472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3547872"/>
            <a:ext cx="462686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 days mean_ozone mean_temp mean_wind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1     5   31   23.61538  65.54839 11.622581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2     6   30   29.44444  79.10000 10.266667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3     7   31   59.11538  83.90323  8.941935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4     8   31   59.96154  83.96774  8.793548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5     9   30   31.44828  76.90000 10.180000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stores n, mean, sd, min and max per variable.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frame groups days by month.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average about 59 ppb, over twice May (24 ppb): ozone follows the hot, still summer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Data Cleaning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39867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Ozone Solar.R    Wind    Temp   Month     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37       7       0       0       0       0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rows: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rows: 111 of 153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decisions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none found.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Solar.R (7 NA): filled with the median, 205 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(37 NA): rows dropped for modelling. The target is not imputed, to avoid inventing the value being predicted.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116 complete rows, 0 NA left.</a:t>
            </a:r>
            <a:endParaRPr lang="en-US" sz="1400" dirty="0"/>
          </a:p>
        </p:txBody>
      </p:sp>
      <p:sp>
        <p:nvSpPr>
          <p:cNvPr id="7" name="code-box"/>
          <p:cNvSpPr/>
          <p:nvPr/>
        </p:nvSpPr>
        <p:spPr>
          <a:xfrm>
            <a:off x="457200" y="23774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450592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air$Solar.R[is.na(air$Solar.R)] &lt;-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median(air$Solar.R, na.rm = 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model_df &lt;- air %&gt;% filter(!is.na(Ozone))</a:t>
            </a:r>
            <a:endParaRPr lang="en-US" sz="1100" dirty="0"/>
          </a:p>
        </p:txBody>
      </p:sp>
      <p:sp>
        <p:nvSpPr>
          <p:cNvPr id="9" name="stat-card"/>
          <p:cNvSpPr/>
          <p:nvPr/>
        </p:nvSpPr>
        <p:spPr>
          <a:xfrm>
            <a:off x="457200" y="3474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844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 → 116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7822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rows kept for modelling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Problems: Data Quality and Distribution</a:t>
            </a:r>
            <a:endParaRPr lang="en-US" sz="2800" dirty="0"/>
          </a:p>
        </p:txBody>
      </p:sp>
      <p:sp>
        <p:nvSpPr>
          <p:cNvPr id="3" name="stat-card"/>
          <p:cNvSpPr/>
          <p:nvPr/>
        </p:nvSpPr>
        <p:spPr>
          <a:xfrm>
            <a:off x="457200" y="10972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07008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651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of Ozone values missing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(37 of 153)</a:t>
            </a:r>
            <a:endParaRPr lang="en-US" sz="1200" dirty="0"/>
          </a:p>
        </p:txBody>
      </p:sp>
      <p:sp>
        <p:nvSpPr>
          <p:cNvPr id="6" name="stat-card"/>
          <p:cNvSpPr/>
          <p:nvPr/>
        </p:nvSpPr>
        <p:spPr>
          <a:xfrm>
            <a:off x="3268980" y="10972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68980" y="1207008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60420" y="182651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skewness of Ozone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(log scale: −0.55)</a:t>
            </a:r>
            <a:endParaRPr lang="en-US" sz="1200" dirty="0"/>
          </a:p>
        </p:txBody>
      </p:sp>
      <p:sp>
        <p:nvSpPr>
          <p:cNvPr id="9" name="stat-card"/>
          <p:cNvSpPr/>
          <p:nvPr/>
        </p:nvSpPr>
        <p:spPr>
          <a:xfrm>
            <a:off x="6080760" y="109728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80760" y="1207008"/>
            <a:ext cx="26060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2651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outliers by IQR rule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(Ozone, Wind)</a:t>
            </a:r>
            <a:endParaRPr lang="en-US" sz="1200" dirty="0"/>
          </a:p>
        </p:txBody>
      </p:sp>
      <p:sp>
        <p:nvSpPr>
          <p:cNvPr id="12" name="code-box"/>
          <p:cNvSpPr/>
          <p:nvPr/>
        </p:nvSpPr>
        <p:spPr>
          <a:xfrm>
            <a:off x="457200" y="265176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724912"/>
            <a:ext cx="398678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Skewness of Ozone: 1.21 | log(Ozone): -0.548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 air$Ozone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0.87867, p-value = 2.79e-08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 log(air$Ozone[!is.na(air$Ozone)])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0.97168, p-value = 0.01471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Ozone Solar.R    Wind   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2       0       3       0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65176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rejects normality of Ozone (p = 2.8e-08); a log transform reduces the skew, although it stays slightly non-normal (p = 0.015).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are genuine high-ozone days, so they are kept, not removed.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 log-linear model and a tree-based model are worth trying.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Problems: Relationships and Tests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Pearson: Ozone vs 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0.70, p &lt; 2.2e-16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positive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Pearson: Ozone vs Wind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−0.61, p = 9.1e-13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negative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Pearson: Ozone vs Solar.R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positive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ANOVA: Ozone by 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7.69, p = 1.8e-05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means differ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t-test: Jul–Aug vs others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 vs 28.3 ppb, p = 1.3e-06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season much higher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VIF (Solar.R, Wind, Temp)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1.10, 1.33, 1.43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harmful collinearity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4"/>
                </a:solidFill>
              </a:rPr>
              <a:t>Temperature and wind are the strongest signals; the predictors are not redundant (all VIF &lt; 5), so they can sit in one model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Data Visualization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3803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ggplot(model_df, aes(Ozone))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geom_histogram(bins = 25)</a:t>
            </a:r>
            <a:endParaRPr lang="en-US" sz="1100" dirty="0"/>
          </a:p>
        </p:txBody>
      </p:sp>
      <p:pic>
        <p:nvPicPr>
          <p:cNvPr id="5" name="Image 0" descr="/home/claude/proj/plots/01_ozone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4023360" cy="2514600"/>
          </a:xfrm>
          <a:prstGeom prst="rect">
            <a:avLst/>
          </a:prstGeom>
        </p:spPr>
      </p:pic>
      <p:pic>
        <p:nvPicPr>
          <p:cNvPr id="6" name="Image 1" descr="/home/claude/proj/plots/02_ozone_by_mont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02336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7"/>
                </a:solidFill>
              </a:rPr>
              <a:t>Ozone is right-skewed; a few days exceed 100 ppb.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657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7"/>
                </a:solidFill>
              </a:rPr>
              <a:t>Median ozone peaks in July and August.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Data Visualization</a:t>
            </a:r>
            <a:endParaRPr lang="en-US" sz="2800" dirty="0"/>
          </a:p>
        </p:txBody>
      </p:sp>
      <p:pic>
        <p:nvPicPr>
          <p:cNvPr id="3" name="Image 0" descr="/home/claude/proj/plots/03_corre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023360" cy="3566160"/>
          </a:xfrm>
          <a:prstGeom prst="rect">
            <a:avLst/>
          </a:prstGeom>
        </p:spPr>
      </p:pic>
      <p:sp>
        <p:nvSpPr>
          <p:cNvPr id="4" name="code-box"/>
          <p:cNvSpPr/>
          <p:nvPr/>
        </p:nvSpPr>
        <p:spPr>
          <a:xfrm>
            <a:off x="4754880" y="10972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864608" y="1170432"/>
            <a:ext cx="37124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cor_mat &lt;- cor(model_df)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corrplot(cor_mat, method = "color",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addCoef.col = "black")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1945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of the numeric features.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rises with Temp (0.70) and Solar.R (0.34).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falls as Wind rises (−0.60).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and Wind are themselves correlated (−0.51).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Boxplots for Checking Outliers</a:t>
            </a:r>
            <a:endParaRPr lang="en-US" sz="2800" dirty="0"/>
          </a:p>
        </p:txBody>
      </p:sp>
      <p:pic>
        <p:nvPicPr>
          <p:cNvPr id="3" name="Image 0" descr="/home/claude/proj/plots/03b_boxplo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512064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852160" y="1188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Ozone: 2 outliers (the two highest days).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Wind: 3 high-speed outliers.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Solar.R and Temp: none.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plausible measurements, so they are kept.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Ozone vs Temperature and Wind</a:t>
            </a:r>
            <a:endParaRPr lang="en-US" sz="2800" dirty="0"/>
          </a:p>
        </p:txBody>
      </p:sp>
      <p:pic>
        <p:nvPicPr>
          <p:cNvPr id="3" name="Image 0" descr="/home/claude/proj/plots/04_ozone_vs_tem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023360" cy="2926080"/>
          </a:xfrm>
          <a:prstGeom prst="rect">
            <a:avLst/>
          </a:prstGeom>
        </p:spPr>
      </p:pic>
      <p:pic>
        <p:nvPicPr>
          <p:cNvPr id="4" name="Image 1" descr="/home/claude/proj/plots/05_ozone_vs_win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023360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4"/>
                </a:solidFill>
              </a:rPr>
              <a:t>Ozone climbs steeply above about 80 °F and drops as wind speed rises. The curves are not straight lines, which motivates polynomial and tree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Data Splitting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of the data is used for training and 20% for testing</a:t>
            </a:r>
            <a:endParaRPr lang="en-US" sz="1800" dirty="0"/>
          </a:p>
        </p:txBody>
      </p:sp>
      <p:sp>
        <p:nvSpPr>
          <p:cNvPr id="4" name="code-box"/>
          <p:cNvSpPr/>
          <p:nvPr/>
        </p:nvSpPr>
        <p:spPr>
          <a:xfrm>
            <a:off x="457200" y="16916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64792"/>
            <a:ext cx="8010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  &lt;- createDataPartition(model_df$Ozone, p = 0.8, list = FALSE)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&lt;- model_df[idx,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&lt;- model_df[-idx, 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 rows: 95 | Test rows: 21</a:t>
            </a:r>
            <a:endParaRPr lang="en-US" sz="1200" dirty="0"/>
          </a:p>
        </p:txBody>
      </p:sp>
      <p:sp>
        <p:nvSpPr>
          <p:cNvPr id="6" name="stat-card"/>
          <p:cNvSpPr/>
          <p:nvPr/>
        </p:nvSpPr>
        <p:spPr>
          <a:xfrm>
            <a:off x="457200" y="3291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456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training rows</a:t>
            </a:r>
            <a:endParaRPr lang="en-US" sz="1200" dirty="0"/>
          </a:p>
        </p:txBody>
      </p:sp>
      <p:sp>
        <p:nvSpPr>
          <p:cNvPr id="9" name="stat-card"/>
          <p:cNvSpPr/>
          <p:nvPr/>
        </p:nvSpPr>
        <p:spPr>
          <a:xfrm>
            <a:off x="3268980" y="329184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34015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60420" y="39456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test rows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32918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4"/>
                </a:solidFill>
              </a:rPr>
              <a:t>The test set is small, so 10-fold × 5 repeated cross-validation is also used for a fairer comparison.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4: Regression Models Used</a:t>
            </a:r>
            <a:endParaRPr lang="en-US" sz="2800" dirty="0"/>
          </a:p>
        </p:txBody>
      </p:sp>
      <p:sp>
        <p:nvSpPr>
          <p:cNvPr id="3" name="model-card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4" name="model-badge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07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Multiple Linear Regression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4"/>
                </a:solidFill>
              </a:rPr>
              <a:t>Ozone ~ Solar.R + Wind + Temp + Month</a:t>
            </a:r>
            <a:endParaRPr lang="en-US" sz="1300" dirty="0"/>
          </a:p>
        </p:txBody>
      </p:sp>
      <p:sp>
        <p:nvSpPr>
          <p:cNvPr id="8" name="model-card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model-badge"/>
          <p:cNvSpPr/>
          <p:nvPr/>
        </p:nvSpPr>
        <p:spPr>
          <a:xfrm>
            <a:off x="4846320" y="13258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13075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Log-Linear Regression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4"/>
                </a:solidFill>
              </a:rPr>
              <a:t>log(Ozone) ~ Solar.R + Wind + Temp</a:t>
            </a:r>
            <a:endParaRPr lang="en-US" sz="1300" dirty="0"/>
          </a:p>
        </p:txBody>
      </p:sp>
      <p:sp>
        <p:nvSpPr>
          <p:cNvPr id="13" name="model-card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4" name="model-badge"/>
          <p:cNvSpPr/>
          <p:nvPr/>
        </p:nvSpPr>
        <p:spPr>
          <a:xfrm>
            <a:off x="640080" y="292608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Polynomial + Interaction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4"/>
                </a:solidFill>
              </a:rPr>
              <a:t>Adds Temp², Wind² and Temp×Wind</a:t>
            </a:r>
            <a:endParaRPr lang="en-US" sz="1300" dirty="0"/>
          </a:p>
        </p:txBody>
      </p:sp>
      <p:sp>
        <p:nvSpPr>
          <p:cNvPr id="18" name="model-card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9" name="model-badge"/>
          <p:cNvSpPr/>
          <p:nvPr/>
        </p:nvSpPr>
        <p:spPr>
          <a:xfrm>
            <a:off x="4846320" y="292608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9077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</a:rPr>
              <a:t>Random Forest (ranger)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4"/>
                </a:solidFill>
              </a:rPr>
              <a:t>500 trees, permutation importance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4"/>
                </a:solidFill>
              </a:rPr>
              <a:t>Plus: Logistic Regression (GLM) to classify high-ozone days (&gt; 50 ppb).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A: Multiple Linear Regression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52669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lm_a &lt;- lm(Ozone ~ Solar.R + Wind + Temp + factor(Month), data = 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summary(lm_a)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Estimate Std. Error t value Pr(&gt;|t|)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-67.91402   31.00965  -2.190   0.0312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Solar.R          0.05426    0.02792   1.943   0.0552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            -3.11438    0.76184  -4.088 9.67e-05 ***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            1.76904    0.40505   4.367 3.46e-05 ***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factor(Month)6 -13.71358   10.49560  -1.307   0.1948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factor(Month)7  -5.22338    9.21714  -0.567   0.5724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factor(Month)8  -5.27234    9.35060  -0.564   0.5743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factor(Month)9 -15.65063    7.94271  -1.970   0.0520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Signif. codes:  0 '***' 0.001 '**' 0.01 '*' 0.05 '.' 0.1 ' ' 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standard error: 21.96 on 87 degrees of freedom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R-squared:  0.6073,	Adjusted R-squared:  0.5757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F-statistic: 19.22 on 7 and 87 DF,  p-value: 2.709e-15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188720"/>
            <a:ext cx="2514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(−3.1 ppb per mph) and Temp (+1.8 ppb per °F) are highly significant.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0.61 (adjusted 0.58) on training data.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dummies are not significant once weather is included.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Diagnostics</a:t>
            </a:r>
            <a:endParaRPr lang="en-US" sz="2800" dirty="0"/>
          </a:p>
        </p:txBody>
      </p:sp>
      <p:pic>
        <p:nvPicPr>
          <p:cNvPr id="3" name="Image 0" descr="/home/claude/proj/plots/06_lm_diagnos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75488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188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fan out and the Q-Q plot bends upward: right-skewed errors.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Shapiro p = 3.9e-05 confirms non-normality.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transform (Model B) lifts training R² to 0.64 and fits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Actual vs Predicted</a:t>
            </a:r>
            <a:endParaRPr lang="en-US" sz="2800" dirty="0"/>
          </a:p>
        </p:txBody>
      </p:sp>
      <p:pic>
        <p:nvPicPr>
          <p:cNvPr id="3" name="Image 0" descr="/home/claude/proj/plots/07_lm_actual_p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4206240" cy="3657600"/>
          </a:xfrm>
          <a:prstGeom prst="rect">
            <a:avLst/>
          </a:prstGeom>
        </p:spPr>
      </p:pic>
      <p:sp>
        <p:nvSpPr>
          <p:cNvPr id="4" name="code-box"/>
          <p:cNvSpPr/>
          <p:nvPr/>
        </p:nvSpPr>
        <p:spPr>
          <a:xfrm>
            <a:off x="4937760" y="109728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47488" y="1170432"/>
            <a:ext cx="35295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Test-set metrics (Model 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 17.069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  13.180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  0.669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6060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follow the line but spread widely, and the model under-predicts the highest days.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 Model B does better on the test set: RMSE 15.09, R² 0.75.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C: Polynomial and Interaction Regression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526694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lm_c &lt;- lm(Ozone ~ Solar.R + Wind + Temp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 I(Temp^2) + I(Wind^2) + Temp:Wind)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Estimate Std. Error t value Pr(&gt;|t|)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476.09840  228.71815   2.082 0.040284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Solar.R       0.06920    0.02376   2.912 0.004550 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        -23.51669   11.20089  -2.100 0.038633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        -9.81134    4.83846  -2.028 0.045607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I(Temp^2)     0.06669    0.02650   2.517 0.013660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I(Wind^2)     0.57725    0.16433   3.513 0.000703 ***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Wind:Temp     0.09979    0.10716   0.931 0.354292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Signif. codes:  0 '***' 0.001 '**' 0.01 '*' 0.05 '.' 0.1 ' '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Residual standard error: 19.27 on 88 degrees of freedom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 R-squared:  0.6941,	Adjusted R-squared:  0.6733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F-statistic: 33.29 on 6 and 88 DF,  p-value: &lt; 2.2e-16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188720"/>
            <a:ext cx="2514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Temp² and Wind² are significant: the effects are curved.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R² rises to 0.69 (adjusted 0.67).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15.55, R² 0.73, better than the plain linear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D: Random Forest Regression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4572000" cy="2423160"/>
          </a:xfrm>
          <a:prstGeom prst="roundRect">
            <a:avLst>
              <a:gd name="adj" fmla="val 3019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4352544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rf &lt;- ranger(Ozone ~ ., data = train,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num.trees = 500,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importance = "permutation")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                           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trees:                  500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size:                      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independent variables: 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Mtry:                           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node size:                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importance mode:         permutation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Splitrule:                        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OOB prediction error (MSE):       326.8074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squared (OOB):                  0.7123916</a:t>
            </a:r>
            <a:endParaRPr lang="en-US" sz="1000" dirty="0"/>
          </a:p>
        </p:txBody>
      </p:sp>
      <p:pic>
        <p:nvPicPr>
          <p:cNvPr id="5" name="Image 0" descr="/home/claude/proj/plots/09_rf_actual_p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12080" y="1005840"/>
            <a:ext cx="3474720" cy="3017520"/>
          </a:xfrm>
          <a:prstGeom prst="rect">
            <a:avLst/>
          </a:prstGeom>
        </p:spPr>
      </p:pic>
      <p:sp>
        <p:nvSpPr>
          <p:cNvPr id="6" name="code-box"/>
          <p:cNvSpPr/>
          <p:nvPr/>
        </p:nvSpPr>
        <p:spPr>
          <a:xfrm>
            <a:off x="457200" y="361188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3685032"/>
            <a:ext cx="43525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set:  RMSE 15.065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MAE  12.043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R2    0.742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1208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7"/>
                </a:solidFill>
              </a:rPr>
              <a:t>Actual vs predicted (test set, 21 days)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Variable Importance</a:t>
            </a:r>
            <a:endParaRPr lang="en-US" sz="2800" dirty="0"/>
          </a:p>
        </p:txBody>
      </p:sp>
      <p:pic>
        <p:nvPicPr>
          <p:cNvPr id="3" name="Image 0" descr="/home/claude/proj/plots/10_rf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493776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18872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Temp dominate, matching the correlation analysis.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Solar.R adds a smaller contribution.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adds little once weather is known.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Generalized Linear Model: Logistic Regression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5156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24712"/>
            <a:ext cx="435254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glm_fit &lt;- glm(HighOzone ~ Solar.R + Wind + Temp,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         family = binomial, data = train_c)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Estimate Std. Error z value Pr(&gt;|z|)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-2.980e+01  9.676e+00  -3.080 0.002072 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Solar.R     -1.824e-04  5.663e-03  -0.032 0.974309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        -5.087e-01  1.865e-01  -2.728 0.006373 **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        4.059e-01  1.205e-01   3.369 0.000755 ***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Odds ratios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 Solar.R        Wind       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0.000       1.000       0.601       1.501</a:t>
            </a:r>
            <a:endParaRPr lang="en-US" sz="1000" dirty="0"/>
          </a:p>
        </p:txBody>
      </p:sp>
      <p:sp>
        <p:nvSpPr>
          <p:cNvPr id="5" name="code-box"/>
          <p:cNvSpPr/>
          <p:nvPr/>
        </p:nvSpPr>
        <p:spPr>
          <a:xfrm>
            <a:off x="5212080" y="105156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21808" y="1124712"/>
            <a:ext cx="32552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 0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0 15  2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1  0  4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Accuracy : 0.9048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Kappa : 0.7407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Sensitivity : 0.6667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Specificity : 1.0000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Balanced Accuracy : 0.8333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4"/>
                </a:solidFill>
              </a:rPr>
              <a:t>Odds of a high-ozone day multiply by about 1.5 for each extra °F and by 0.6 for each extra mph of wind. Test accuracy 90.5% (19 of 21): it never gave a false alarm, but missed 2 of the 6 high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ROC Curve</a:t>
            </a:r>
            <a:endParaRPr lang="en-US" sz="2800" dirty="0"/>
          </a:p>
        </p:txBody>
      </p:sp>
      <p:pic>
        <p:nvPicPr>
          <p:cNvPr id="3" name="Image 0" descr="/home/claude/proj/plots/11_ro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393192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0.978 on the test set: the model separates high and low ozone days very well.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holds only 21 days (6 high), so treat this as encouraging rather than final.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0.5; lower it if missing a high day is costlier than a false alarm.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Models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Log-Linear 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+ Interact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7"/>
                </a:solidFill>
              </a:rPr>
              <a:t>Lower RMSE is better. CV = 10-fold × 5 repeated cross-validation on all 116 rows.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03520" y="1005840"/>
          <a:ext cx="3383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4"/>
                </a:solidFill>
              </a:rPr>
              <a:t>Logistic regression is a classifier, so it is judged separately: accuracy 90.5%, AUC 0.978.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Ozone for New Days</a:t>
            </a:r>
            <a:endParaRPr lang="en-US" sz="2800" dirty="0"/>
          </a:p>
        </p:txBody>
      </p:sp>
      <p:sp>
        <p:nvSpPr>
          <p:cNvPr id="3" name="code-box"/>
          <p:cNvSpPr/>
          <p:nvPr/>
        </p:nvSpPr>
        <p:spPr>
          <a:xfrm>
            <a:off x="457200" y="109728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70432"/>
            <a:ext cx="80101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Solar.R Wind Temp Month Pred_Ozone_RF Pred_Ozone_Poly HighOzone_Prob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1     250    5   92     7          93.7            98.0          0.993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2     150    9   80     6          37.1            35.4          0.126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3      80   14   65     5          17.3             0.4          0.000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Category_RF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Very Unhealthy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7E6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       Good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80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calm, sunny July day (92 °F, 5 mph): about 94 ppb, Very Unhealthy; high-ozone probability 99%.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June day (80 °F, 9 mph): about 37 ppb, Moderate; probability 13%.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Cool, windy May day (65 °F, 14 mph): about 17 ppb, Good. The polynomial model's 0.4 ppb here shows why forests are safer near the edge of the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Discussion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most reliable regressor: lowest cross-validated RMSE (16.6 ppb) and highest R² (0.77).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21-day test set, Log-Linear and Random Forest tie (RMSE about 15.1), so the small test set cannot separate them; cross-validation is the better guide.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and temperature drive ozone; solar radiation adds a little; month adds almost nothing.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R² of 0.7–0.8 is realistic: precursor emissions (NOx, VOCs) and traffic are not in this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flags high-ozone days with 90.5% accuracy and AUC 0.978.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 on a given day can be predicted from weather with RMSE of about 17 ppb.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still, sunny days are the high-risk days.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(hold-out plus cross-validation) gave realistic scores.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NOx, VOC and traffic data, and more years.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gradient boosting and time-series features such as previous-day ozone.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Shiny app for daily alerts.</a:t>
            </a:r>
            <a:endParaRPr lang="en-US" sz="1400" dirty="0"/>
          </a:p>
        </p:txBody>
      </p:sp>
      <p:sp>
        <p:nvSpPr>
          <p:cNvPr id="7" name="stat-card"/>
          <p:cNvSpPr/>
          <p:nvPr/>
        </p:nvSpPr>
        <p:spPr>
          <a:xfrm>
            <a:off x="457200" y="356616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16.6 ppb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96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cross-validated RMSE (Random Forest)</a:t>
            </a:r>
            <a:endParaRPr lang="en-US" sz="1200" dirty="0"/>
          </a:p>
        </p:txBody>
      </p:sp>
      <p:sp>
        <p:nvSpPr>
          <p:cNvPr id="10" name="stat-card"/>
          <p:cNvSpPr/>
          <p:nvPr/>
        </p:nvSpPr>
        <p:spPr>
          <a:xfrm>
            <a:off x="3268980" y="356616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6898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360420" y="41696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cross-validated R² (Random Forest)</a:t>
            </a:r>
            <a:endParaRPr lang="en-US" sz="1200" dirty="0"/>
          </a:p>
        </p:txBody>
      </p:sp>
      <p:sp>
        <p:nvSpPr>
          <p:cNvPr id="13" name="stat-card"/>
          <p:cNvSpPr/>
          <p:nvPr/>
        </p:nvSpPr>
        <p:spPr>
          <a:xfrm>
            <a:off x="6080760" y="356616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0760" y="36758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0.978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16966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4"/>
                </a:solidFill>
              </a:rPr>
              <a:t>AUC of the logistic classifier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Reference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</a:rPr>
              <a:t>GitHub: Air Quality Analysis Project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2A54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https://github.com/&lt;your-username&gt;/air-quality-analysis-r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Repository contains the R script, dataset, console output, plots and README.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YOU!!!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Quality">
  <a:themeElements>
    <a:clrScheme name="AirQuality">
      <a:dk1>
        <a:srgbClr val="1B2A34"/>
      </a:dk1>
      <a:lt1>
        <a:srgbClr val="FFFFFF"/>
      </a:lt1>
      <a:dk2>
        <a:srgbClr val="0B3C5D"/>
      </a:dk2>
      <a:lt2>
        <a:srgbClr val="EAF2F6"/>
      </a:lt2>
      <a:accent1>
        <a:srgbClr val="0B3C5D"/>
      </a:accent1>
      <a:accent2>
        <a:srgbClr val="2A9D8F"/>
      </a:accent2>
      <a:accent3>
        <a:srgbClr val="F2A541"/>
      </a:accent3>
      <a:accent4>
        <a:srgbClr val="C8553D"/>
      </a:accent4>
      <a:accent5>
        <a:srgbClr val="5B8FB9"/>
      </a:accent5>
      <a:accent6>
        <a:srgbClr val="7A8B99"/>
      </a:accent6>
      <a:hlink>
        <a:srgbClr val="0B3C5D"/>
      </a:hlink>
      <a:folHlink>
        <a:srgbClr val="7A8B99"/>
      </a:folHlink>
    </a:clrScheme>
    <a:fontScheme name="AirQual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Analysis using R</dc:title>
  <dc:subject>PptxGenJS Presentation</dc:subject>
  <dc:creator>GOWTHAMRAJ P</dc:creator>
  <cp:lastModifiedBy>GOWTHAMRAJ P</cp:lastModifiedBy>
  <cp:revision>1</cp:revision>
  <dcterms:created xsi:type="dcterms:W3CDTF">2026-10-09T04:27:51Z</dcterms:created>
  <dcterms:modified xsi:type="dcterms:W3CDTF">2026-10-09T04:27:51Z</dcterms:modified>
</cp:coreProperties>
</file>